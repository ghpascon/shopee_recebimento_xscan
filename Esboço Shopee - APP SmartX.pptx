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411dd9f124c114c4_1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h411dd9f124c114c4_1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h411dd9f124c114c4_1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411dd9f124c114c4_1_1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h411dd9f124c114c4_1_1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411dd9f124c114c4_1_1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h411dd9f124c114c4_1_2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h411dd9f124c114c4_1_2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h411dd9f124c114c4_1_2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411dd9f124c114c4_1_4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h411dd9f124c114c4_1_4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h411dd9f124c114c4_1_4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h411dd9f124c114c4_1_4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h411dd9f124c114c4_1_46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h411dd9f124c114c4_1_46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h411dd9f124c114c4_1_53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h411dd9f124c114c4_1_53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h411dd9f124c114c4_1_53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h411dd9f124c114c4_1_5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h411dd9f124c114c4_1_57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h411dd9f124c114c4_1_57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h411dd9f124c114c4_1_6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h411dd9f124c114c4_1_6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h411dd9f124c114c4_1_6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56" name="Google Shape;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4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1 _ RECEBIMENTO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· Login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46888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 · Leitura – aguardando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5720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 · Leitura – em andamento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8122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9220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9037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Após o login, a lista abre vazia e o botão CONFIRMAR fica desabilitado.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Gatilho físico inicia a leitura; itens aparecem na lista com ✓ ao serem detectados.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Releituras da mesma tag não duplicam: o item aparece uma única vez e o total só conta itens únicos.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Sem remoção de item.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Rodapé: usuário logado e localidade (vinculada a</a:t>
            </a:r>
            <a:r>
              <a:rPr lang="pt-BR" sz="750">
                <a:solidFill>
                  <a:srgbClr val="555555"/>
                </a:solidFill>
              </a:rPr>
              <a:t>o GPS</a:t>
            </a: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750">
              <a:solidFill>
                <a:srgbClr val="555555"/>
              </a:solidFill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Char char="•"/>
            </a:pPr>
            <a:r>
              <a:rPr lang="pt-BR" sz="750">
                <a:solidFill>
                  <a:srgbClr val="555555"/>
                </a:solidFill>
              </a:rPr>
              <a:t>Ao ler: mensagem de sucesso abaixo (próximo slide)</a:t>
            </a:r>
            <a:endParaRPr sz="750">
              <a:solidFill>
                <a:srgbClr val="555555"/>
              </a:solidFill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Char char="•"/>
            </a:pPr>
            <a:r>
              <a:t/>
            </a:r>
            <a:endParaRPr sz="750">
              <a:solidFill>
                <a:srgbClr val="555555"/>
              </a:solidFill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70" name="Google Shape;7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600200"/>
            <a:ext cx="457200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365760" y="2148840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02920" y="256032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502920" y="2743200"/>
            <a:ext cx="1645800" cy="292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 txBox="1"/>
          <p:nvPr/>
        </p:nvSpPr>
        <p:spPr>
          <a:xfrm>
            <a:off x="502920" y="315468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02920" y="3337560"/>
            <a:ext cx="1645800" cy="292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502920" y="388620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502920" y="388620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457200" y="4297680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Local vinculado ao login do usuário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246888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250545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257860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250545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256032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2606040" y="-210567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CB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4"/>
          <p:cNvSpPr txBox="1"/>
          <p:nvPr/>
        </p:nvSpPr>
        <p:spPr>
          <a:xfrm>
            <a:off x="2923794" y="-210567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NFC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606147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3275873" y="1435483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RFID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3559302" y="-210567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BLE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3877056" y="-210567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260604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65176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38328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2606040" y="2295144"/>
            <a:ext cx="1645800" cy="14265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697480" y="240487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((•))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2697480" y="2788920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conectado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697480" y="299008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Aperte o gatilho do coletor para iniciar a leitura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260604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60604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45720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46085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6817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6085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634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470916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5488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48640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75488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488289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70916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80060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598932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480060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598932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480060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98932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480060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598932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480060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598932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470916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70916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4709209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5378936" y="1435483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RFID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/>
        </p:nvSpPr>
        <p:spPr>
          <a:xfrm>
            <a:off x="36575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logo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1 _ RECEBIMENTO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3622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lang="pt-BR" sz="800">
                <a:solidFill>
                  <a:srgbClr val="555555"/>
                </a:solidFill>
              </a:rPr>
              <a:t>5</a:t>
            </a: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· Erro (sem internet)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46024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47122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46939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CONFIRMAR RECEBIMENTO → Movimentar: Local = RECEBIMENTO.</a:t>
            </a:r>
            <a:endParaRPr b="0" i="0" sz="750" u="none" cap="none" strike="noStrik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Char char="•"/>
            </a:pPr>
            <a:r>
              <a:rPr lang="pt-BR" sz="750">
                <a:solidFill>
                  <a:srgbClr val="555555"/>
                </a:solidFill>
              </a:rPr>
              <a:t>A sincronização é feita automaticamente ao confirmar </a:t>
            </a:r>
            <a:endParaRPr sz="750">
              <a:solidFill>
                <a:srgbClr val="555555"/>
              </a:solidFill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Funciona somente online: se a chamada falhar, nada é movimentado e a lista é mantida para nova tentativa.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NOVA LEITURA volta à tela 2 com a lista vazia.</a:t>
            </a:r>
            <a:endParaRPr b="0" i="0" sz="750" u="none" cap="none" strike="noStrik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Char char="•"/>
            </a:pPr>
            <a:r>
              <a:t/>
            </a:r>
            <a:endParaRPr sz="750">
              <a:solidFill>
                <a:srgbClr val="555555"/>
              </a:solidFill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907797" y="2308804"/>
            <a:ext cx="745800" cy="7314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lt1"/>
                </a:solidFill>
              </a:rPr>
              <a:t>✓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85797" y="3215119"/>
            <a:ext cx="11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Recebimento confirmado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503100" y="3693923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23622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23987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24719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23987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24536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3002280" y="1783080"/>
            <a:ext cx="640200" cy="640200"/>
          </a:xfrm>
          <a:prstGeom prst="ellipse">
            <a:avLst/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3002280" y="178308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2499360" y="260594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lang="pt-BR">
                <a:solidFill>
                  <a:srgbClr val="222222"/>
                </a:solidFill>
              </a:rPr>
              <a:t>Falha</a:t>
            </a:r>
            <a:br>
              <a:rPr b="1" lang="pt-BR">
                <a:solidFill>
                  <a:srgbClr val="222222"/>
                </a:solidFill>
              </a:rPr>
            </a:br>
            <a:r>
              <a:rPr b="1" i="0" lang="pt-BR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Sem conexão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 txBox="1"/>
          <p:nvPr/>
        </p:nvSpPr>
        <p:spPr>
          <a:xfrm>
            <a:off x="2545075" y="3240499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lang="pt-BR" sz="800">
                <a:solidFill>
                  <a:srgbClr val="555555"/>
                </a:solidFill>
              </a:rPr>
              <a:t>Leitura não registrada</a:t>
            </a: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. Verifique a internet e tente novamente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36575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lang="pt-BR" sz="800">
                <a:solidFill>
                  <a:srgbClr val="555555"/>
                </a:solidFill>
              </a:rPr>
              <a:t>4</a:t>
            </a: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· </a:t>
            </a:r>
            <a:r>
              <a:rPr b="1" lang="pt-BR" sz="800">
                <a:solidFill>
                  <a:srgbClr val="555555"/>
                </a:solidFill>
              </a:rPr>
              <a:t>Confirmação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0232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7547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RECEBIMENTO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40232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45719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0291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54863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128015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502959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1172686" y="1435483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RFID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2499475" y="3680398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6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· Login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246888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 · Escolha da operação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45720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 · Aguardando leitura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68122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69220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9037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Operador toca em ENTRADA na escolha da operação.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Barra de tipo de leitura (CB, NFC, RFID, BLE, EM): o tipo selecionado fica destacado; fica VERDE quando a conexão com o leitor funciona e VERMELHO se falhar.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Lista vazia e botão desabilitado até a primeira leitura.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6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181" name="Google Shape;1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1600200"/>
            <a:ext cx="457200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6"/>
          <p:cNvSpPr txBox="1"/>
          <p:nvPr/>
        </p:nvSpPr>
        <p:spPr>
          <a:xfrm>
            <a:off x="365760" y="2148840"/>
            <a:ext cx="1920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ALMOX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502920" y="256032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02920" y="2743200"/>
            <a:ext cx="1645800" cy="292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502920" y="3154680"/>
            <a:ext cx="16458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Senha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502920" y="3337560"/>
            <a:ext cx="1645800" cy="2925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502920" y="388620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"/>
          <p:cNvSpPr txBox="1"/>
          <p:nvPr/>
        </p:nvSpPr>
        <p:spPr>
          <a:xfrm>
            <a:off x="502920" y="388620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 txBox="1"/>
          <p:nvPr/>
        </p:nvSpPr>
        <p:spPr>
          <a:xfrm>
            <a:off x="457200" y="4297680"/>
            <a:ext cx="173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Local vinculado ao login do usuário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246888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250545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 txBox="1"/>
          <p:nvPr/>
        </p:nvSpPr>
        <p:spPr>
          <a:xfrm>
            <a:off x="257860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250545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256032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 txBox="1"/>
          <p:nvPr/>
        </p:nvSpPr>
        <p:spPr>
          <a:xfrm>
            <a:off x="2606040" y="1435608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Qual operação deseja realizar?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2606040" y="1764792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2724912" y="1856232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 txBox="1"/>
          <p:nvPr/>
        </p:nvSpPr>
        <p:spPr>
          <a:xfrm>
            <a:off x="2724912" y="2185416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entrada no almoxarifado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2606040" y="2624328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2673DD"/>
          </a:solidFill>
          <a:ln cap="flat" cmpd="sng" w="12700">
            <a:solidFill>
              <a:srgbClr val="2673DD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 txBox="1"/>
          <p:nvPr/>
        </p:nvSpPr>
        <p:spPr>
          <a:xfrm>
            <a:off x="2724912" y="2715768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2724912" y="3044952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saída do almoxarifado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2606040" y="3483864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E06666"/>
          </a:solidFill>
          <a:ln cap="flat" cmpd="sng" w="12700">
            <a:solidFill>
              <a:srgbClr val="D0011B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2724912" y="3575304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 txBox="1"/>
          <p:nvPr/>
        </p:nvSpPr>
        <p:spPr>
          <a:xfrm>
            <a:off x="2724912" y="3904488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descarte por condição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45720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46085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46817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ENTRADA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46085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46634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4709150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LER QR CODE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5266504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212" name="Google Shape;212;p16"/>
          <p:cNvSpPr/>
          <p:nvPr/>
        </p:nvSpPr>
        <p:spPr>
          <a:xfrm>
            <a:off x="5826755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DIGITAR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470916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"/>
          <p:cNvSpPr txBox="1"/>
          <p:nvPr/>
        </p:nvSpPr>
        <p:spPr>
          <a:xfrm>
            <a:off x="475488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548640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6"/>
          <p:cNvSpPr/>
          <p:nvPr/>
        </p:nvSpPr>
        <p:spPr>
          <a:xfrm>
            <a:off x="4709160" y="2295144"/>
            <a:ext cx="1645800" cy="14265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4800600" y="240487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((•))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4800600" y="2788920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conectado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4800600" y="299008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Aperte o gatilho do coletor para iniciar a leitura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470916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470916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 ENTRADA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4 · Lendo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246888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 · </a:t>
            </a:r>
            <a:r>
              <a:rPr b="1" lang="pt-BR" sz="800">
                <a:solidFill>
                  <a:srgbClr val="555555"/>
                </a:solidFill>
              </a:rPr>
              <a:t>Sucesso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7"/>
          <p:cNvSpPr/>
          <p:nvPr/>
        </p:nvSpPr>
        <p:spPr>
          <a:xfrm>
            <a:off x="68122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69220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69037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Gatilho físico inicia a leitura; cada item aparece uma única vez com ✓.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CONFIRMAR ENTRADA → Movimentar: Local = ENTRADA.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Funciona somente online; em caso de falha vale a tela de erro do App 1.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NOVA LEITURA volta à tela 3.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ENTRADA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40233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 txBox="1"/>
          <p:nvPr/>
        </p:nvSpPr>
        <p:spPr>
          <a:xfrm>
            <a:off x="45720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50292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54864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 txBox="1"/>
          <p:nvPr/>
        </p:nvSpPr>
        <p:spPr>
          <a:xfrm>
            <a:off x="128016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4864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67665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50292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59436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178308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59436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7"/>
          <p:cNvSpPr txBox="1"/>
          <p:nvPr/>
        </p:nvSpPr>
        <p:spPr>
          <a:xfrm>
            <a:off x="178308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 txBox="1"/>
          <p:nvPr/>
        </p:nvSpPr>
        <p:spPr>
          <a:xfrm>
            <a:off x="59436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 txBox="1"/>
          <p:nvPr/>
        </p:nvSpPr>
        <p:spPr>
          <a:xfrm>
            <a:off x="178308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 txBox="1"/>
          <p:nvPr/>
        </p:nvSpPr>
        <p:spPr>
          <a:xfrm>
            <a:off x="59436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7"/>
          <p:cNvSpPr txBox="1"/>
          <p:nvPr/>
        </p:nvSpPr>
        <p:spPr>
          <a:xfrm>
            <a:off x="178308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7"/>
          <p:cNvSpPr txBox="1"/>
          <p:nvPr/>
        </p:nvSpPr>
        <p:spPr>
          <a:xfrm>
            <a:off x="59436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 txBox="1"/>
          <p:nvPr/>
        </p:nvSpPr>
        <p:spPr>
          <a:xfrm>
            <a:off x="178308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50292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50292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 ENTRADA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2487163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3029209" y="2308804"/>
            <a:ext cx="745800" cy="7314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lt1"/>
                </a:solidFill>
              </a:rPr>
              <a:t>✓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2807210" y="3215119"/>
            <a:ext cx="11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lang="pt-BR" sz="1000">
                <a:solidFill>
                  <a:srgbClr val="222222"/>
                </a:solidFill>
              </a:rPr>
              <a:t>Entrada confirmada</a:t>
            </a:r>
            <a:endParaRPr b="1" sz="1200">
              <a:solidFill>
                <a:srgbClr val="222222"/>
              </a:solidFill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2624513" y="3693923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  <p:sp>
        <p:nvSpPr>
          <p:cNvPr id="264" name="Google Shape;264;p17"/>
          <p:cNvSpPr/>
          <p:nvPr/>
        </p:nvSpPr>
        <p:spPr>
          <a:xfrm>
            <a:off x="2523738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2596891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lt1"/>
                </a:solidFill>
              </a:rPr>
              <a:t>ALMOX · ENTRADA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2523738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 txBox="1"/>
          <p:nvPr/>
        </p:nvSpPr>
        <p:spPr>
          <a:xfrm>
            <a:off x="2578603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2624323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"/>
          <p:cNvSpPr txBox="1"/>
          <p:nvPr/>
        </p:nvSpPr>
        <p:spPr>
          <a:xfrm>
            <a:off x="2670042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 txBox="1"/>
          <p:nvPr/>
        </p:nvSpPr>
        <p:spPr>
          <a:xfrm>
            <a:off x="3401563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2624372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7"/>
          <p:cNvSpPr txBox="1"/>
          <p:nvPr/>
        </p:nvSpPr>
        <p:spPr>
          <a:xfrm>
            <a:off x="3294098" y="1435483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RFID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45720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lang="pt-BR" sz="800">
                <a:solidFill>
                  <a:srgbClr val="555555"/>
                </a:solidFill>
              </a:rPr>
              <a:t>6</a:t>
            </a: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· Erro (sem internet)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45720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46085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7"/>
          <p:cNvSpPr txBox="1"/>
          <p:nvPr/>
        </p:nvSpPr>
        <p:spPr>
          <a:xfrm>
            <a:off x="46817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lt1"/>
                </a:solidFill>
              </a:rPr>
              <a:t>ALMOX · ENTRADA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6085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46634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5212080" y="1783080"/>
            <a:ext cx="640200" cy="640200"/>
          </a:xfrm>
          <a:prstGeom prst="ellipse">
            <a:avLst/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5212080" y="178308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 txBox="1"/>
          <p:nvPr/>
        </p:nvSpPr>
        <p:spPr>
          <a:xfrm>
            <a:off x="4709160" y="260594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lang="pt-BR">
                <a:solidFill>
                  <a:srgbClr val="222222"/>
                </a:solidFill>
              </a:rPr>
              <a:t>Falha</a:t>
            </a:r>
            <a:br>
              <a:rPr b="1" lang="pt-BR">
                <a:solidFill>
                  <a:srgbClr val="222222"/>
                </a:solidFill>
              </a:rPr>
            </a:br>
            <a:r>
              <a:rPr b="1" i="0" lang="pt-BR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Sem conexão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4754875" y="3240499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lang="pt-BR" sz="800">
                <a:solidFill>
                  <a:srgbClr val="555555"/>
                </a:solidFill>
              </a:rPr>
              <a:t>Leitura não registrada. Verifique a internet e tente novamente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709275" y="3680398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  <p:sp>
        <p:nvSpPr>
          <p:cNvPr id="284" name="Google Shape;284;p17"/>
          <p:cNvSpPr/>
          <p:nvPr/>
        </p:nvSpPr>
        <p:spPr>
          <a:xfrm>
            <a:off x="502875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LER QR CODE</a:t>
            </a:r>
            <a:endParaRPr/>
          </a:p>
        </p:txBody>
      </p:sp>
      <p:sp>
        <p:nvSpPr>
          <p:cNvPr id="285" name="Google Shape;285;p17"/>
          <p:cNvSpPr/>
          <p:nvPr/>
        </p:nvSpPr>
        <p:spPr>
          <a:xfrm>
            <a:off x="1060229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286" name="Google Shape;286;p17"/>
          <p:cNvSpPr/>
          <p:nvPr/>
        </p:nvSpPr>
        <p:spPr>
          <a:xfrm>
            <a:off x="1620480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DIGITAR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292" name="Google Shape;2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Saída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8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 · Escolha da operação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 txBox="1"/>
          <p:nvPr/>
        </p:nvSpPr>
        <p:spPr>
          <a:xfrm>
            <a:off x="246888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2 · Aguardando leitura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 txBox="1"/>
          <p:nvPr/>
        </p:nvSpPr>
        <p:spPr>
          <a:xfrm>
            <a:off x="45720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3 · Lendo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68122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8"/>
          <p:cNvSpPr txBox="1"/>
          <p:nvPr/>
        </p:nvSpPr>
        <p:spPr>
          <a:xfrm>
            <a:off x="69220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 txBox="1"/>
          <p:nvPr/>
        </p:nvSpPr>
        <p:spPr>
          <a:xfrm>
            <a:off x="69037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Operador toca em SAÍDA na escolha da operação.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Mesma barra de tipo de leitura: verde quando o leitor está conectado.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Lista vazia e botão desabilitado até a primeira leitura.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Gatilho físico inicia a leitura; itens aparecem uma única vez com ✓.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8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0233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"/>
          <p:cNvSpPr txBox="1"/>
          <p:nvPr/>
        </p:nvSpPr>
        <p:spPr>
          <a:xfrm>
            <a:off x="45720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 txBox="1"/>
          <p:nvPr/>
        </p:nvSpPr>
        <p:spPr>
          <a:xfrm>
            <a:off x="502920" y="1435608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Qual operação deseja realizar?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502920" y="1764792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26AA99">
              <a:alpha val="34900"/>
            </a:srgbClr>
          </a:solidFill>
          <a:ln cap="flat" cmpd="sng" w="12700">
            <a:solidFill>
              <a:srgbClr val="26AA99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621792" y="1856232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 txBox="1"/>
          <p:nvPr/>
        </p:nvSpPr>
        <p:spPr>
          <a:xfrm>
            <a:off x="621792" y="2185416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entrada no almoxarifado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502920" y="2624328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2673DD"/>
          </a:solidFill>
          <a:ln cap="flat" cmpd="sng" w="12700">
            <a:solidFill>
              <a:srgbClr val="267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621792" y="2715768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SAÍDA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621792" y="3044952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saída do almoxarifado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502920" y="3483864"/>
            <a:ext cx="1645800" cy="749700"/>
          </a:xfrm>
          <a:prstGeom prst="roundRect">
            <a:avLst>
              <a:gd fmla="val 9756" name="adj"/>
            </a:avLst>
          </a:prstGeom>
          <a:solidFill>
            <a:srgbClr val="D0011B">
              <a:alpha val="34900"/>
            </a:srgbClr>
          </a:solidFill>
          <a:ln cap="flat" cmpd="sng" w="12700">
            <a:solidFill>
              <a:srgbClr val="D0011B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8"/>
          <p:cNvSpPr txBox="1"/>
          <p:nvPr/>
        </p:nvSpPr>
        <p:spPr>
          <a:xfrm>
            <a:off x="621792" y="3575304"/>
            <a:ext cx="1408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8"/>
          <p:cNvSpPr txBox="1"/>
          <p:nvPr/>
        </p:nvSpPr>
        <p:spPr>
          <a:xfrm>
            <a:off x="621792" y="3904488"/>
            <a:ext cx="1408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Registrar descarte por condição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8"/>
          <p:cNvSpPr/>
          <p:nvPr/>
        </p:nvSpPr>
        <p:spPr>
          <a:xfrm>
            <a:off x="246888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"/>
          <p:cNvSpPr/>
          <p:nvPr/>
        </p:nvSpPr>
        <p:spPr>
          <a:xfrm>
            <a:off x="250545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8"/>
          <p:cNvSpPr txBox="1"/>
          <p:nvPr/>
        </p:nvSpPr>
        <p:spPr>
          <a:xfrm>
            <a:off x="257860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SAÍDA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250545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8"/>
          <p:cNvSpPr txBox="1"/>
          <p:nvPr/>
        </p:nvSpPr>
        <p:spPr>
          <a:xfrm>
            <a:off x="256032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260604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8"/>
          <p:cNvSpPr txBox="1"/>
          <p:nvPr/>
        </p:nvSpPr>
        <p:spPr>
          <a:xfrm>
            <a:off x="265176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 txBox="1"/>
          <p:nvPr/>
        </p:nvSpPr>
        <p:spPr>
          <a:xfrm>
            <a:off x="338328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/>
          <p:nvPr/>
        </p:nvSpPr>
        <p:spPr>
          <a:xfrm>
            <a:off x="2606040" y="2295144"/>
            <a:ext cx="1645800" cy="1426500"/>
          </a:xfrm>
          <a:prstGeom prst="roundRect">
            <a:avLst>
              <a:gd fmla="val 384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2697480" y="2404872"/>
            <a:ext cx="146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800"/>
              <a:buFont typeface="Arial"/>
              <a:buNone/>
            </a:pPr>
            <a:r>
              <a:rPr b="0" i="0" lang="pt-BR" sz="1800" u="none" cap="none" strike="noStrike">
                <a:solidFill>
                  <a:srgbClr val="BBBBBB"/>
                </a:solidFill>
                <a:latin typeface="Arial"/>
                <a:ea typeface="Arial"/>
                <a:cs typeface="Arial"/>
                <a:sym typeface="Arial"/>
              </a:rPr>
              <a:t>((•))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8"/>
          <p:cNvSpPr txBox="1"/>
          <p:nvPr/>
        </p:nvSpPr>
        <p:spPr>
          <a:xfrm>
            <a:off x="2697480" y="2788920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conectado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8"/>
          <p:cNvSpPr txBox="1"/>
          <p:nvPr/>
        </p:nvSpPr>
        <p:spPr>
          <a:xfrm>
            <a:off x="2697480" y="2990088"/>
            <a:ext cx="1463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Aperte o gatilho do coletor para iniciar a leitura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8"/>
          <p:cNvSpPr/>
          <p:nvPr/>
        </p:nvSpPr>
        <p:spPr>
          <a:xfrm>
            <a:off x="260604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CCCCCC"/>
          </a:solidFill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260604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 SAÍDA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45720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8"/>
          <p:cNvSpPr/>
          <p:nvPr/>
        </p:nvSpPr>
        <p:spPr>
          <a:xfrm>
            <a:off x="46085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46817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SAÍDA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46085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46634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70916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 txBox="1"/>
          <p:nvPr/>
        </p:nvSpPr>
        <p:spPr>
          <a:xfrm>
            <a:off x="475488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548640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475488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 txBox="1"/>
          <p:nvPr/>
        </p:nvSpPr>
        <p:spPr>
          <a:xfrm>
            <a:off x="488289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470916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8"/>
          <p:cNvSpPr txBox="1"/>
          <p:nvPr/>
        </p:nvSpPr>
        <p:spPr>
          <a:xfrm>
            <a:off x="480060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598932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480060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598932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480060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598932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480060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 txBox="1"/>
          <p:nvPr/>
        </p:nvSpPr>
        <p:spPr>
          <a:xfrm>
            <a:off x="598932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480060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598932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8"/>
          <p:cNvSpPr/>
          <p:nvPr/>
        </p:nvSpPr>
        <p:spPr>
          <a:xfrm>
            <a:off x="470916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2673DD"/>
          </a:solidFill>
          <a:ln cap="flat" cmpd="sng" w="12700">
            <a:solidFill>
              <a:srgbClr val="2673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8"/>
          <p:cNvSpPr txBox="1"/>
          <p:nvPr/>
        </p:nvSpPr>
        <p:spPr>
          <a:xfrm>
            <a:off x="470916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 SAÍDA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2606097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356" name="Google Shape;356;p18"/>
          <p:cNvSpPr/>
          <p:nvPr/>
        </p:nvSpPr>
        <p:spPr>
          <a:xfrm>
            <a:off x="4709184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ogo.png" id="362" name="Google Shape;3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19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Saída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9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9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9"/>
          <p:cNvSpPr/>
          <p:nvPr/>
        </p:nvSpPr>
        <p:spPr>
          <a:xfrm>
            <a:off x="4572000" y="960120"/>
            <a:ext cx="4251900" cy="20118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9"/>
          <p:cNvSpPr txBox="1"/>
          <p:nvPr/>
        </p:nvSpPr>
        <p:spPr>
          <a:xfrm>
            <a:off x="4709160" y="1051560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4709160" y="1325880"/>
            <a:ext cx="4023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Char char="•"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CONFIRMAR SAÍDA → Movimentar: Local = SAÍDA.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Char char="•"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NOVA LEITURA volta à tela 2.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376505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5 · </a:t>
            </a:r>
            <a:r>
              <a:rPr b="1" lang="pt-BR" sz="800">
                <a:solidFill>
                  <a:srgbClr val="555555"/>
                </a:solidFill>
              </a:rPr>
              <a:t>Sucesso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9"/>
          <p:cNvSpPr/>
          <p:nvPr/>
        </p:nvSpPr>
        <p:spPr>
          <a:xfrm>
            <a:off x="394788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9"/>
          <p:cNvSpPr/>
          <p:nvPr/>
        </p:nvSpPr>
        <p:spPr>
          <a:xfrm>
            <a:off x="936834" y="2308804"/>
            <a:ext cx="745800" cy="7314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chemeClr val="lt1"/>
                </a:solidFill>
              </a:rPr>
              <a:t>✓</a:t>
            </a:r>
            <a:endParaRPr/>
          </a:p>
        </p:txBody>
      </p:sp>
      <p:sp>
        <p:nvSpPr>
          <p:cNvPr id="373" name="Google Shape;373;p19"/>
          <p:cNvSpPr txBox="1"/>
          <p:nvPr/>
        </p:nvSpPr>
        <p:spPr>
          <a:xfrm>
            <a:off x="714835" y="3215119"/>
            <a:ext cx="11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lang="pt-BR" sz="1000">
                <a:solidFill>
                  <a:srgbClr val="222222"/>
                </a:solidFill>
              </a:rPr>
              <a:t>Entrada confirmada</a:t>
            </a:r>
            <a:endParaRPr b="1" sz="1200">
              <a:solidFill>
                <a:srgbClr val="222222"/>
              </a:solidFill>
            </a:endParaRPr>
          </a:p>
        </p:txBody>
      </p:sp>
      <p:sp>
        <p:nvSpPr>
          <p:cNvPr id="374" name="Google Shape;374;p19"/>
          <p:cNvSpPr/>
          <p:nvPr/>
        </p:nvSpPr>
        <p:spPr>
          <a:xfrm>
            <a:off x="532138" y="3693923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  <p:sp>
        <p:nvSpPr>
          <p:cNvPr id="375" name="Google Shape;375;p19"/>
          <p:cNvSpPr/>
          <p:nvPr/>
        </p:nvSpPr>
        <p:spPr>
          <a:xfrm>
            <a:off x="431364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9"/>
          <p:cNvSpPr txBox="1"/>
          <p:nvPr/>
        </p:nvSpPr>
        <p:spPr>
          <a:xfrm>
            <a:off x="504515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lt1"/>
                </a:solidFill>
              </a:rPr>
              <a:t>ALMOX · SAÍDA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377" name="Google Shape;377;p19"/>
          <p:cNvSpPr/>
          <p:nvPr/>
        </p:nvSpPr>
        <p:spPr>
          <a:xfrm>
            <a:off x="431364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"/>
          <p:cNvSpPr txBox="1"/>
          <p:nvPr/>
        </p:nvSpPr>
        <p:spPr>
          <a:xfrm>
            <a:off x="486228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9"/>
          <p:cNvSpPr/>
          <p:nvPr/>
        </p:nvSpPr>
        <p:spPr>
          <a:xfrm>
            <a:off x="531948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9"/>
          <p:cNvSpPr txBox="1"/>
          <p:nvPr/>
        </p:nvSpPr>
        <p:spPr>
          <a:xfrm>
            <a:off x="577667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1309188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9"/>
          <p:cNvSpPr/>
          <p:nvPr/>
        </p:nvSpPr>
        <p:spPr>
          <a:xfrm>
            <a:off x="531997" y="1435600"/>
            <a:ext cx="16458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9"/>
          <p:cNvSpPr txBox="1"/>
          <p:nvPr/>
        </p:nvSpPr>
        <p:spPr>
          <a:xfrm>
            <a:off x="1201723" y="1435483"/>
            <a:ext cx="306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al"/>
              <a:buNone/>
            </a:pPr>
            <a:r>
              <a:rPr b="1" i="0" lang="pt-BR" sz="6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RFID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2479625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lang="pt-BR" sz="800">
                <a:solidFill>
                  <a:srgbClr val="555555"/>
                </a:solidFill>
              </a:rPr>
              <a:t>6</a:t>
            </a: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 · Erro (sem internet)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9"/>
          <p:cNvSpPr/>
          <p:nvPr/>
        </p:nvSpPr>
        <p:spPr>
          <a:xfrm>
            <a:off x="2479625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9"/>
          <p:cNvSpPr/>
          <p:nvPr/>
        </p:nvSpPr>
        <p:spPr>
          <a:xfrm>
            <a:off x="2516201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9"/>
          <p:cNvSpPr txBox="1"/>
          <p:nvPr/>
        </p:nvSpPr>
        <p:spPr>
          <a:xfrm>
            <a:off x="2589353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b="1" lang="pt-BR" sz="800">
                <a:solidFill>
                  <a:schemeClr val="lt1"/>
                </a:solidFill>
              </a:rPr>
              <a:t>ALMOX · SAÍDA</a:t>
            </a:r>
            <a:endParaRPr b="1" sz="800">
              <a:solidFill>
                <a:srgbClr val="FFFFFF"/>
              </a:solidFill>
            </a:endParaRPr>
          </a:p>
        </p:txBody>
      </p:sp>
      <p:sp>
        <p:nvSpPr>
          <p:cNvPr id="388" name="Google Shape;388;p19"/>
          <p:cNvSpPr/>
          <p:nvPr/>
        </p:nvSpPr>
        <p:spPr>
          <a:xfrm>
            <a:off x="2516201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"/>
          <p:cNvSpPr txBox="1"/>
          <p:nvPr/>
        </p:nvSpPr>
        <p:spPr>
          <a:xfrm>
            <a:off x="2571065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9"/>
          <p:cNvSpPr/>
          <p:nvPr/>
        </p:nvSpPr>
        <p:spPr>
          <a:xfrm>
            <a:off x="3119705" y="1783080"/>
            <a:ext cx="640200" cy="640200"/>
          </a:xfrm>
          <a:prstGeom prst="ellipse">
            <a:avLst/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9"/>
          <p:cNvSpPr txBox="1"/>
          <p:nvPr/>
        </p:nvSpPr>
        <p:spPr>
          <a:xfrm>
            <a:off x="3119705" y="178308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9"/>
          <p:cNvSpPr txBox="1"/>
          <p:nvPr/>
        </p:nvSpPr>
        <p:spPr>
          <a:xfrm>
            <a:off x="2616785" y="2605945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lang="pt-BR">
                <a:solidFill>
                  <a:srgbClr val="222222"/>
                </a:solidFill>
              </a:rPr>
              <a:t>Falha</a:t>
            </a:r>
            <a:br>
              <a:rPr b="1" lang="pt-BR">
                <a:solidFill>
                  <a:srgbClr val="222222"/>
                </a:solidFill>
              </a:rPr>
            </a:br>
            <a:r>
              <a:rPr b="1" i="0" lang="pt-BR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Sem conexão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9"/>
          <p:cNvSpPr txBox="1"/>
          <p:nvPr/>
        </p:nvSpPr>
        <p:spPr>
          <a:xfrm>
            <a:off x="2662500" y="3240499"/>
            <a:ext cx="155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lang="pt-BR" sz="800">
                <a:solidFill>
                  <a:srgbClr val="555555"/>
                </a:solidFill>
              </a:rPr>
              <a:t>Leitura não registrada. Verifique a internet e tente novamente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555555"/>
              </a:solidFill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2616900" y="3680398"/>
            <a:ext cx="1645800" cy="4116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chemeClr val="lt1"/>
                </a:solidFill>
              </a:rPr>
              <a:t>NOVA LEITURA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ogo.png" id="400" name="Google Shape;400;p20"/>
          <p:cNvSpPr/>
          <p:nvPr/>
        </p:nvSpPr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20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Descarte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0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0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0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7 · Descarte – lista lida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246888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8 · Seleção do motivo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457200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9 · Pop-up de confirmação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0"/>
          <p:cNvSpPr/>
          <p:nvPr/>
        </p:nvSpPr>
        <p:spPr>
          <a:xfrm>
            <a:off x="6812280" y="960120"/>
            <a:ext cx="2011800" cy="3749100"/>
          </a:xfrm>
          <a:prstGeom prst="roundRect">
            <a:avLst>
              <a:gd fmla="val 3636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0"/>
          <p:cNvSpPr txBox="1"/>
          <p:nvPr/>
        </p:nvSpPr>
        <p:spPr>
          <a:xfrm>
            <a:off x="6922008" y="1024128"/>
            <a:ext cx="179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AÇÕES E REGRAS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6903720" y="1298448"/>
            <a:ext cx="1828800" cy="33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Primeiro lê-se o lote (RFID ou item a item); depois escolhe-se o motivo.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Motivo é obrigatório e é a própria justificativa do descarte (sem aprovação). </a:t>
            </a:r>
            <a:endParaRPr b="0" i="0" sz="750" u="none" cap="none" strike="noStrike">
              <a:solidFill>
                <a:srgbClr val="5555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Char char="•"/>
            </a:pPr>
            <a:r>
              <a:rPr lang="pt-BR" sz="750">
                <a:solidFill>
                  <a:srgbClr val="555555"/>
                </a:solidFill>
              </a:rPr>
              <a:t>Lista vinda do cadastro do sistema</a:t>
            </a:r>
            <a:endParaRPr sz="750">
              <a:solidFill>
                <a:srgbClr val="555555"/>
              </a:solidFill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CONFIRMAR → Movimentar: </a:t>
            </a:r>
            <a:r>
              <a:rPr lang="pt-BR" sz="750">
                <a:solidFill>
                  <a:srgbClr val="555555"/>
                </a:solidFill>
              </a:rPr>
              <a:t>DESCARTE </a:t>
            </a: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= motivo selecionado e DISPOSIÇÃO = INDISPONÍVEL.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Char char="•"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Aplica-se o mesmo motivo a todo o lote lido.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0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0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DESCARTE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>
            <a:off x="40233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0"/>
          <p:cNvSpPr txBox="1"/>
          <p:nvPr/>
        </p:nvSpPr>
        <p:spPr>
          <a:xfrm>
            <a:off x="45720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0"/>
          <p:cNvSpPr/>
          <p:nvPr/>
        </p:nvSpPr>
        <p:spPr>
          <a:xfrm>
            <a:off x="50292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54864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0"/>
          <p:cNvSpPr txBox="1"/>
          <p:nvPr/>
        </p:nvSpPr>
        <p:spPr>
          <a:xfrm>
            <a:off x="128016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54864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0"/>
          <p:cNvSpPr txBox="1"/>
          <p:nvPr/>
        </p:nvSpPr>
        <p:spPr>
          <a:xfrm>
            <a:off x="67665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0"/>
          <p:cNvSpPr/>
          <p:nvPr/>
        </p:nvSpPr>
        <p:spPr>
          <a:xfrm>
            <a:off x="50292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0"/>
          <p:cNvSpPr txBox="1"/>
          <p:nvPr/>
        </p:nvSpPr>
        <p:spPr>
          <a:xfrm>
            <a:off x="59436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178308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59436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0"/>
          <p:cNvSpPr txBox="1"/>
          <p:nvPr/>
        </p:nvSpPr>
        <p:spPr>
          <a:xfrm>
            <a:off x="178308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0"/>
          <p:cNvSpPr txBox="1"/>
          <p:nvPr/>
        </p:nvSpPr>
        <p:spPr>
          <a:xfrm>
            <a:off x="59436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0"/>
          <p:cNvSpPr txBox="1"/>
          <p:nvPr/>
        </p:nvSpPr>
        <p:spPr>
          <a:xfrm>
            <a:off x="178308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0"/>
          <p:cNvSpPr txBox="1"/>
          <p:nvPr/>
        </p:nvSpPr>
        <p:spPr>
          <a:xfrm>
            <a:off x="59436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0"/>
          <p:cNvSpPr txBox="1"/>
          <p:nvPr/>
        </p:nvSpPr>
        <p:spPr>
          <a:xfrm>
            <a:off x="178308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0"/>
          <p:cNvSpPr txBox="1"/>
          <p:nvPr/>
        </p:nvSpPr>
        <p:spPr>
          <a:xfrm>
            <a:off x="59436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0"/>
          <p:cNvSpPr txBox="1"/>
          <p:nvPr/>
        </p:nvSpPr>
        <p:spPr>
          <a:xfrm>
            <a:off x="178308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0"/>
          <p:cNvSpPr/>
          <p:nvPr/>
        </p:nvSpPr>
        <p:spPr>
          <a:xfrm>
            <a:off x="50292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0"/>
          <p:cNvSpPr txBox="1"/>
          <p:nvPr/>
        </p:nvSpPr>
        <p:spPr>
          <a:xfrm>
            <a:off x="50292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SELECIONAR MOTIVO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0"/>
          <p:cNvSpPr/>
          <p:nvPr/>
        </p:nvSpPr>
        <p:spPr>
          <a:xfrm>
            <a:off x="246888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0"/>
          <p:cNvSpPr/>
          <p:nvPr/>
        </p:nvSpPr>
        <p:spPr>
          <a:xfrm>
            <a:off x="250545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20"/>
          <p:cNvSpPr txBox="1"/>
          <p:nvPr/>
        </p:nvSpPr>
        <p:spPr>
          <a:xfrm>
            <a:off x="257860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DESCARTE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0"/>
          <p:cNvSpPr/>
          <p:nvPr/>
        </p:nvSpPr>
        <p:spPr>
          <a:xfrm>
            <a:off x="250545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0"/>
          <p:cNvSpPr txBox="1"/>
          <p:nvPr/>
        </p:nvSpPr>
        <p:spPr>
          <a:xfrm>
            <a:off x="256032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0"/>
          <p:cNvSpPr/>
          <p:nvPr/>
        </p:nvSpPr>
        <p:spPr>
          <a:xfrm>
            <a:off x="260604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0"/>
          <p:cNvSpPr txBox="1"/>
          <p:nvPr/>
        </p:nvSpPr>
        <p:spPr>
          <a:xfrm>
            <a:off x="265176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0"/>
          <p:cNvSpPr txBox="1"/>
          <p:nvPr/>
        </p:nvSpPr>
        <p:spPr>
          <a:xfrm>
            <a:off x="338328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0"/>
          <p:cNvSpPr/>
          <p:nvPr/>
        </p:nvSpPr>
        <p:spPr>
          <a:xfrm>
            <a:off x="265176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0"/>
          <p:cNvSpPr txBox="1"/>
          <p:nvPr/>
        </p:nvSpPr>
        <p:spPr>
          <a:xfrm>
            <a:off x="277977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0"/>
          <p:cNvSpPr/>
          <p:nvPr/>
        </p:nvSpPr>
        <p:spPr>
          <a:xfrm>
            <a:off x="260604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0"/>
          <p:cNvSpPr txBox="1"/>
          <p:nvPr/>
        </p:nvSpPr>
        <p:spPr>
          <a:xfrm>
            <a:off x="269748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0"/>
          <p:cNvSpPr txBox="1"/>
          <p:nvPr/>
        </p:nvSpPr>
        <p:spPr>
          <a:xfrm>
            <a:off x="388620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0"/>
          <p:cNvSpPr txBox="1"/>
          <p:nvPr/>
        </p:nvSpPr>
        <p:spPr>
          <a:xfrm>
            <a:off x="269748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0"/>
          <p:cNvSpPr txBox="1"/>
          <p:nvPr/>
        </p:nvSpPr>
        <p:spPr>
          <a:xfrm>
            <a:off x="388620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0"/>
          <p:cNvSpPr txBox="1"/>
          <p:nvPr/>
        </p:nvSpPr>
        <p:spPr>
          <a:xfrm>
            <a:off x="269748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0"/>
          <p:cNvSpPr txBox="1"/>
          <p:nvPr/>
        </p:nvSpPr>
        <p:spPr>
          <a:xfrm>
            <a:off x="388620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0"/>
          <p:cNvSpPr txBox="1"/>
          <p:nvPr/>
        </p:nvSpPr>
        <p:spPr>
          <a:xfrm>
            <a:off x="269748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0"/>
          <p:cNvSpPr txBox="1"/>
          <p:nvPr/>
        </p:nvSpPr>
        <p:spPr>
          <a:xfrm>
            <a:off x="388620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0"/>
          <p:cNvSpPr txBox="1"/>
          <p:nvPr/>
        </p:nvSpPr>
        <p:spPr>
          <a:xfrm>
            <a:off x="269748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0"/>
          <p:cNvSpPr txBox="1"/>
          <p:nvPr/>
        </p:nvSpPr>
        <p:spPr>
          <a:xfrm>
            <a:off x="388620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0"/>
          <p:cNvSpPr/>
          <p:nvPr/>
        </p:nvSpPr>
        <p:spPr>
          <a:xfrm>
            <a:off x="260604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0"/>
          <p:cNvSpPr txBox="1"/>
          <p:nvPr/>
        </p:nvSpPr>
        <p:spPr>
          <a:xfrm>
            <a:off x="260604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SELECIONAR MOTIVO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0"/>
          <p:cNvSpPr/>
          <p:nvPr/>
        </p:nvSpPr>
        <p:spPr>
          <a:xfrm>
            <a:off x="2468868" y="978383"/>
            <a:ext cx="1883700" cy="3712500"/>
          </a:xfrm>
          <a:prstGeom prst="roundRect">
            <a:avLst>
              <a:gd fmla="val 6796" name="adj"/>
            </a:avLst>
          </a:prstGeom>
          <a:solidFill>
            <a:srgbClr val="000000">
              <a:alpha val="451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0"/>
          <p:cNvSpPr/>
          <p:nvPr/>
        </p:nvSpPr>
        <p:spPr>
          <a:xfrm>
            <a:off x="2505456" y="1965960"/>
            <a:ext cx="1847100" cy="2651700"/>
          </a:xfrm>
          <a:prstGeom prst="roundRect">
            <a:avLst>
              <a:gd fmla="val 5941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0"/>
          <p:cNvSpPr txBox="1"/>
          <p:nvPr/>
        </p:nvSpPr>
        <p:spPr>
          <a:xfrm>
            <a:off x="2606040" y="2057400"/>
            <a:ext cx="1645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Motivo do descarte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0"/>
          <p:cNvSpPr/>
          <p:nvPr/>
        </p:nvSpPr>
        <p:spPr>
          <a:xfrm>
            <a:off x="2592425" y="2380025"/>
            <a:ext cx="1645800" cy="3453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0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>
            <a:off x="2678785" y="2483669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20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 txBox="1"/>
          <p:nvPr/>
        </p:nvSpPr>
        <p:spPr>
          <a:xfrm>
            <a:off x="2894674" y="2380025"/>
            <a:ext cx="13437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756"/>
              <a:buFont typeface="Arial"/>
              <a:buNone/>
            </a:pPr>
            <a:r>
              <a:rPr lang="pt-BR" sz="756">
                <a:solidFill>
                  <a:srgbClr val="222222"/>
                </a:solidFill>
              </a:rPr>
              <a:t>Forever Bag - </a:t>
            </a:r>
            <a:r>
              <a:rPr b="0" i="0" lang="pt-BR" sz="756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Zíper quebrado</a:t>
            </a:r>
            <a:endParaRPr b="0" i="0" sz="7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0"/>
          <p:cNvSpPr/>
          <p:nvPr/>
        </p:nvSpPr>
        <p:spPr>
          <a:xfrm>
            <a:off x="2592425" y="2811830"/>
            <a:ext cx="1645800" cy="345300"/>
          </a:xfrm>
          <a:prstGeom prst="roundRect">
            <a:avLst>
              <a:gd fmla="val 12500" name="adj"/>
            </a:avLst>
          </a:prstGeom>
          <a:solidFill>
            <a:srgbClr val="FDECE8"/>
          </a:solidFill>
          <a:ln cap="flat" cmpd="sng" w="180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2678785" y="2915474"/>
            <a:ext cx="138300" cy="138300"/>
          </a:xfrm>
          <a:prstGeom prst="ellipse">
            <a:avLst/>
          </a:prstGeom>
          <a:solidFill>
            <a:srgbClr val="EE4D2D"/>
          </a:solidFill>
          <a:ln cap="flat" cmpd="sng" w="120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0"/>
          <p:cNvSpPr txBox="1"/>
          <p:nvPr/>
        </p:nvSpPr>
        <p:spPr>
          <a:xfrm>
            <a:off x="2894686" y="2811841"/>
            <a:ext cx="1209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756"/>
              <a:buFont typeface="Arial"/>
              <a:buNone/>
            </a:pPr>
            <a:r>
              <a:rPr b="1" lang="pt-BR" sz="756">
                <a:solidFill>
                  <a:srgbClr val="222222"/>
                </a:solidFill>
              </a:rPr>
              <a:t>Forever Bag - </a:t>
            </a:r>
            <a:r>
              <a:rPr b="1" i="0" lang="pt-BR" sz="756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Rasgad</a:t>
            </a:r>
            <a:r>
              <a:rPr b="1" lang="pt-BR" sz="756">
                <a:solidFill>
                  <a:srgbClr val="222222"/>
                </a:solidFill>
              </a:rPr>
              <a:t>a</a:t>
            </a:r>
            <a:endParaRPr b="0" i="0" sz="7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2592425" y="3243635"/>
            <a:ext cx="1645800" cy="3453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0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0"/>
          <p:cNvSpPr/>
          <p:nvPr/>
        </p:nvSpPr>
        <p:spPr>
          <a:xfrm>
            <a:off x="2678785" y="3347280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20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 txBox="1"/>
          <p:nvPr/>
        </p:nvSpPr>
        <p:spPr>
          <a:xfrm>
            <a:off x="2894686" y="3243646"/>
            <a:ext cx="1209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756"/>
              <a:buFont typeface="Arial"/>
              <a:buNone/>
            </a:pPr>
            <a:r>
              <a:rPr lang="pt-BR" sz="756">
                <a:solidFill>
                  <a:srgbClr val="222222"/>
                </a:solidFill>
              </a:rPr>
              <a:t>Forever Bag - Etiqueta descosturada </a:t>
            </a:r>
            <a:endParaRPr b="0" i="0" sz="7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/>
          <p:nvPr/>
        </p:nvSpPr>
        <p:spPr>
          <a:xfrm>
            <a:off x="2606040" y="4069080"/>
            <a:ext cx="1645800" cy="365700"/>
          </a:xfrm>
          <a:prstGeom prst="roundRect">
            <a:avLst>
              <a:gd fmla="val 12500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0"/>
          <p:cNvSpPr txBox="1"/>
          <p:nvPr/>
        </p:nvSpPr>
        <p:spPr>
          <a:xfrm>
            <a:off x="2606040" y="4069080"/>
            <a:ext cx="1645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CONFIRMAR MOTIVO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0"/>
          <p:cNvSpPr/>
          <p:nvPr/>
        </p:nvSpPr>
        <p:spPr>
          <a:xfrm>
            <a:off x="457200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20"/>
          <p:cNvSpPr/>
          <p:nvPr/>
        </p:nvSpPr>
        <p:spPr>
          <a:xfrm>
            <a:off x="460857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20"/>
          <p:cNvSpPr txBox="1"/>
          <p:nvPr/>
        </p:nvSpPr>
        <p:spPr>
          <a:xfrm>
            <a:off x="468172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DESCARTE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0"/>
          <p:cNvSpPr/>
          <p:nvPr/>
        </p:nvSpPr>
        <p:spPr>
          <a:xfrm>
            <a:off x="460857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0"/>
          <p:cNvSpPr txBox="1"/>
          <p:nvPr/>
        </p:nvSpPr>
        <p:spPr>
          <a:xfrm>
            <a:off x="466344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0"/>
          <p:cNvSpPr/>
          <p:nvPr/>
        </p:nvSpPr>
        <p:spPr>
          <a:xfrm>
            <a:off x="4709160" y="1728216"/>
            <a:ext cx="1645800" cy="475500"/>
          </a:xfrm>
          <a:prstGeom prst="roundRect">
            <a:avLst>
              <a:gd fmla="val 11538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0"/>
          <p:cNvSpPr txBox="1"/>
          <p:nvPr/>
        </p:nvSpPr>
        <p:spPr>
          <a:xfrm>
            <a:off x="4754880" y="1728216"/>
            <a:ext cx="822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TOTAL LIDO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0"/>
          <p:cNvSpPr txBox="1"/>
          <p:nvPr/>
        </p:nvSpPr>
        <p:spPr>
          <a:xfrm>
            <a:off x="5486400" y="1728216"/>
            <a:ext cx="7773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200"/>
              <a:buFont typeface="Arial"/>
              <a:buNone/>
            </a:pPr>
            <a:r>
              <a:rPr b="1" i="0" lang="pt-BR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0"/>
          <p:cNvSpPr/>
          <p:nvPr/>
        </p:nvSpPr>
        <p:spPr>
          <a:xfrm>
            <a:off x="4754880" y="2286000"/>
            <a:ext cx="82200" cy="82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0"/>
          <p:cNvSpPr txBox="1"/>
          <p:nvPr/>
        </p:nvSpPr>
        <p:spPr>
          <a:xfrm>
            <a:off x="4882896" y="2240280"/>
            <a:ext cx="1463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RFID lendo… itens detectados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0"/>
          <p:cNvSpPr/>
          <p:nvPr/>
        </p:nvSpPr>
        <p:spPr>
          <a:xfrm>
            <a:off x="4709160" y="2441448"/>
            <a:ext cx="1645800" cy="1280100"/>
          </a:xfrm>
          <a:prstGeom prst="roundRect">
            <a:avLst>
              <a:gd fmla="val 4286" name="adj"/>
            </a:avLst>
          </a:prstGeom>
          <a:solidFill>
            <a:srgbClr val="FFFFFF"/>
          </a:solidFill>
          <a:ln cap="flat" cmpd="sng" w="127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0"/>
          <p:cNvSpPr txBox="1"/>
          <p:nvPr/>
        </p:nvSpPr>
        <p:spPr>
          <a:xfrm>
            <a:off x="4800600" y="2478024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0"/>
          <p:cNvSpPr txBox="1"/>
          <p:nvPr/>
        </p:nvSpPr>
        <p:spPr>
          <a:xfrm>
            <a:off x="5989320" y="2478024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4800600" y="2724912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0"/>
          <p:cNvSpPr txBox="1"/>
          <p:nvPr/>
        </p:nvSpPr>
        <p:spPr>
          <a:xfrm>
            <a:off x="5989320" y="2724912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0"/>
          <p:cNvSpPr txBox="1"/>
          <p:nvPr/>
        </p:nvSpPr>
        <p:spPr>
          <a:xfrm>
            <a:off x="4800600" y="2971800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0"/>
          <p:cNvSpPr txBox="1"/>
          <p:nvPr/>
        </p:nvSpPr>
        <p:spPr>
          <a:xfrm>
            <a:off x="5989320" y="2971800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4800600" y="3218688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FB 000003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5989320" y="3218688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4800600" y="3465576"/>
            <a:ext cx="128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Polionda 000001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5989320" y="3465576"/>
            <a:ext cx="27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A99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26AA9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/>
          <p:nvPr/>
        </p:nvSpPr>
        <p:spPr>
          <a:xfrm>
            <a:off x="470916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0"/>
          <p:cNvSpPr txBox="1"/>
          <p:nvPr/>
        </p:nvSpPr>
        <p:spPr>
          <a:xfrm>
            <a:off x="470916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SELECIONAR MOTIVO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0"/>
          <p:cNvSpPr/>
          <p:nvPr/>
        </p:nvSpPr>
        <p:spPr>
          <a:xfrm>
            <a:off x="4590288" y="978408"/>
            <a:ext cx="1883700" cy="3712500"/>
          </a:xfrm>
          <a:prstGeom prst="roundRect">
            <a:avLst>
              <a:gd fmla="val 6796" name="adj"/>
            </a:avLst>
          </a:prstGeom>
          <a:solidFill>
            <a:srgbClr val="000000">
              <a:alpha val="45100"/>
            </a:srgbClr>
          </a:solidFill>
          <a:ln cap="flat" cmpd="sng" w="12700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0"/>
          <p:cNvSpPr/>
          <p:nvPr/>
        </p:nvSpPr>
        <p:spPr>
          <a:xfrm>
            <a:off x="4709160" y="2148840"/>
            <a:ext cx="1645800" cy="13716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0"/>
          <p:cNvSpPr txBox="1"/>
          <p:nvPr/>
        </p:nvSpPr>
        <p:spPr>
          <a:xfrm>
            <a:off x="4773168" y="2221992"/>
            <a:ext cx="151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Confirmar descarte?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0"/>
          <p:cNvSpPr txBox="1"/>
          <p:nvPr/>
        </p:nvSpPr>
        <p:spPr>
          <a:xfrm>
            <a:off x="4773168" y="2514600"/>
            <a:ext cx="15180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7 itens serão descartados.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Motivo: Rasgado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50"/>
              <a:buFont typeface="Arial"/>
              <a:buNone/>
            </a:pPr>
            <a:r>
              <a:rPr b="0" i="0" lang="pt-BR" sz="75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Disposição: INDISPONÍVEL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0"/>
          <p:cNvSpPr/>
          <p:nvPr/>
        </p:nvSpPr>
        <p:spPr>
          <a:xfrm>
            <a:off x="4773168" y="3063240"/>
            <a:ext cx="685800" cy="329100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0"/>
          <p:cNvSpPr txBox="1"/>
          <p:nvPr/>
        </p:nvSpPr>
        <p:spPr>
          <a:xfrm>
            <a:off x="4773168" y="3063240"/>
            <a:ext cx="6858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CANCELAR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0"/>
          <p:cNvSpPr/>
          <p:nvPr/>
        </p:nvSpPr>
        <p:spPr>
          <a:xfrm>
            <a:off x="5486400" y="3063240"/>
            <a:ext cx="804600" cy="329100"/>
          </a:xfrm>
          <a:prstGeom prst="roundRect">
            <a:avLst>
              <a:gd fmla="val 13889" name="adj"/>
            </a:avLst>
          </a:prstGeom>
          <a:solidFill>
            <a:srgbClr val="D0011B"/>
          </a:solidFill>
          <a:ln cap="flat" cmpd="sng" w="12700">
            <a:solidFill>
              <a:srgbClr val="D001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0"/>
          <p:cNvSpPr txBox="1"/>
          <p:nvPr/>
        </p:nvSpPr>
        <p:spPr>
          <a:xfrm>
            <a:off x="5486400" y="3063240"/>
            <a:ext cx="804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al"/>
              <a:buNone/>
            </a:pPr>
            <a:r>
              <a:rPr b="1" i="0" lang="pt-BR" sz="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DESCARTAR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0"/>
          <p:cNvSpPr/>
          <p:nvPr/>
        </p:nvSpPr>
        <p:spPr>
          <a:xfrm>
            <a:off x="502875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LER QR CODE</a:t>
            </a:r>
            <a:endParaRPr/>
          </a:p>
        </p:txBody>
      </p:sp>
      <p:sp>
        <p:nvSpPr>
          <p:cNvPr id="503" name="Google Shape;503;p20"/>
          <p:cNvSpPr/>
          <p:nvPr/>
        </p:nvSpPr>
        <p:spPr>
          <a:xfrm>
            <a:off x="1060229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504" name="Google Shape;504;p20"/>
          <p:cNvSpPr/>
          <p:nvPr/>
        </p:nvSpPr>
        <p:spPr>
          <a:xfrm>
            <a:off x="1620480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DIGITAR CÓDIGO</a:t>
            </a:r>
            <a:endParaRPr/>
          </a:p>
        </p:txBody>
      </p:sp>
      <p:sp>
        <p:nvSpPr>
          <p:cNvPr id="505" name="Google Shape;505;p20"/>
          <p:cNvSpPr/>
          <p:nvPr/>
        </p:nvSpPr>
        <p:spPr>
          <a:xfrm>
            <a:off x="2592425" y="3675475"/>
            <a:ext cx="1645800" cy="3453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12000">
            <a:solidFill>
              <a:srgbClr val="BBBB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0"/>
          <p:cNvSpPr/>
          <p:nvPr/>
        </p:nvSpPr>
        <p:spPr>
          <a:xfrm>
            <a:off x="2678785" y="3779120"/>
            <a:ext cx="138300" cy="138300"/>
          </a:xfrm>
          <a:prstGeom prst="ellipse">
            <a:avLst/>
          </a:prstGeom>
          <a:solidFill>
            <a:srgbClr val="FFFFFF"/>
          </a:solidFill>
          <a:ln cap="flat" cmpd="sng" w="120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6350" lIns="86350" spcFirstLastPara="1" rIns="86350" wrap="square" tIns="86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0"/>
          <p:cNvSpPr txBox="1"/>
          <p:nvPr/>
        </p:nvSpPr>
        <p:spPr>
          <a:xfrm>
            <a:off x="2894686" y="3675487"/>
            <a:ext cx="12090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756"/>
              <a:buFont typeface="Arial"/>
              <a:buNone/>
            </a:pPr>
            <a:r>
              <a:rPr b="0" i="0" lang="pt-BR" sz="756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Outras condições…</a:t>
            </a:r>
            <a:endParaRPr b="0" i="0" sz="7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0"/>
          <p:cNvSpPr/>
          <p:nvPr/>
        </p:nvSpPr>
        <p:spPr>
          <a:xfrm>
            <a:off x="4709163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LER QR CODE</a:t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5266516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510" name="Google Shape;510;p20"/>
          <p:cNvSpPr/>
          <p:nvPr/>
        </p:nvSpPr>
        <p:spPr>
          <a:xfrm>
            <a:off x="2606050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LER QR CODE</a:t>
            </a:r>
            <a:endParaRPr/>
          </a:p>
        </p:txBody>
      </p:sp>
      <p:sp>
        <p:nvSpPr>
          <p:cNvPr id="511" name="Google Shape;511;p20"/>
          <p:cNvSpPr/>
          <p:nvPr/>
        </p:nvSpPr>
        <p:spPr>
          <a:xfrm>
            <a:off x="3163404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26AA99"/>
          </a:solidFill>
          <a:ln cap="flat" cmpd="sng" w="1905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RFID</a:t>
            </a:r>
            <a:endParaRPr/>
          </a:p>
        </p:txBody>
      </p:sp>
      <p:sp>
        <p:nvSpPr>
          <p:cNvPr id="512" name="Google Shape;512;p20"/>
          <p:cNvSpPr/>
          <p:nvPr/>
        </p:nvSpPr>
        <p:spPr>
          <a:xfrm>
            <a:off x="3723655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DIGITAR</a:t>
            </a:r>
            <a:endParaRPr/>
          </a:p>
        </p:txBody>
      </p:sp>
      <p:sp>
        <p:nvSpPr>
          <p:cNvPr id="513" name="Google Shape;513;p20"/>
          <p:cNvSpPr/>
          <p:nvPr/>
        </p:nvSpPr>
        <p:spPr>
          <a:xfrm>
            <a:off x="5826767" y="1435600"/>
            <a:ext cx="528300" cy="219600"/>
          </a:xfrm>
          <a:prstGeom prst="roundRect">
            <a:avLst>
              <a:gd fmla="val 16667" name="adj"/>
            </a:avLst>
          </a:prstGeom>
          <a:solidFill>
            <a:srgbClr val="5A5A5A"/>
          </a:solidFill>
          <a:ln cap="flat" cmpd="sng" w="12700">
            <a:solidFill>
              <a:srgbClr val="5A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650">
                <a:solidFill>
                  <a:schemeClr val="lt1"/>
                </a:solidFill>
              </a:rPr>
              <a:t>DIGITAR CÓDIGO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ogo.png" id="519" name="Google Shape;519;p21"/>
          <p:cNvSpPr/>
          <p:nvPr/>
        </p:nvSpPr>
        <p:spPr>
          <a:xfrm>
            <a:off x="182880" y="109728"/>
            <a:ext cx="365760" cy="41148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21"/>
          <p:cNvSpPr txBox="1"/>
          <p:nvPr/>
        </p:nvSpPr>
        <p:spPr>
          <a:xfrm>
            <a:off x="685800" y="109728"/>
            <a:ext cx="731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APP 2 _ ALMOX – Descarte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/>
          <p:nvPr/>
        </p:nvSpPr>
        <p:spPr>
          <a:xfrm>
            <a:off x="0" y="658368"/>
            <a:ext cx="8915400" cy="273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8915400" y="630936"/>
            <a:ext cx="91500" cy="91500"/>
          </a:xfrm>
          <a:prstGeom prst="ellipse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"/>
          <p:cNvSpPr txBox="1"/>
          <p:nvPr/>
        </p:nvSpPr>
        <p:spPr>
          <a:xfrm>
            <a:off x="3200400" y="4846320"/>
            <a:ext cx="2743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Arial"/>
              <a:buNone/>
            </a:pPr>
            <a:r>
              <a:rPr b="0" i="0" lang="pt-BR" sz="7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Private &amp; Confidential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1"/>
          <p:cNvSpPr txBox="1"/>
          <p:nvPr/>
        </p:nvSpPr>
        <p:spPr>
          <a:xfrm>
            <a:off x="365760" y="749808"/>
            <a:ext cx="1920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10 · Sucesso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365760" y="960120"/>
            <a:ext cx="1920300" cy="37491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 cap="flat" cmpd="sng" w="1905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402336" y="1051560"/>
            <a:ext cx="1847100" cy="310800"/>
          </a:xfrm>
          <a:prstGeom prst="rect">
            <a:avLst/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1"/>
          <p:cNvSpPr txBox="1"/>
          <p:nvPr/>
        </p:nvSpPr>
        <p:spPr>
          <a:xfrm>
            <a:off x="475488" y="1051560"/>
            <a:ext cx="1700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ALMOX · DESCARTE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/>
          <p:nvPr/>
        </p:nvSpPr>
        <p:spPr>
          <a:xfrm>
            <a:off x="402336" y="4361688"/>
            <a:ext cx="1847100" cy="2559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1"/>
          <p:cNvSpPr txBox="1"/>
          <p:nvPr/>
        </p:nvSpPr>
        <p:spPr>
          <a:xfrm>
            <a:off x="457200" y="4361688"/>
            <a:ext cx="173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Arial"/>
              <a:buNone/>
            </a:pPr>
            <a:r>
              <a:rPr b="0" i="0" lang="pt-BR" sz="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Maria S.  |  SOC SP6_GUARULHOS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1"/>
          <p:cNvSpPr/>
          <p:nvPr/>
        </p:nvSpPr>
        <p:spPr>
          <a:xfrm>
            <a:off x="1005840" y="1783080"/>
            <a:ext cx="640200" cy="640200"/>
          </a:xfrm>
          <a:prstGeom prst="ellipse">
            <a:avLst/>
          </a:prstGeom>
          <a:solidFill>
            <a:srgbClr val="26AA99"/>
          </a:solidFill>
          <a:ln cap="flat" cmpd="sng" w="12700">
            <a:solidFill>
              <a:srgbClr val="26AA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1"/>
          <p:cNvSpPr txBox="1"/>
          <p:nvPr/>
        </p:nvSpPr>
        <p:spPr>
          <a:xfrm>
            <a:off x="1005840" y="1783080"/>
            <a:ext cx="640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pt-BR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1"/>
          <p:cNvSpPr txBox="1"/>
          <p:nvPr/>
        </p:nvSpPr>
        <p:spPr>
          <a:xfrm>
            <a:off x="502920" y="2560320"/>
            <a:ext cx="1645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pt-BR" sz="1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Descarte registrado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1"/>
          <p:cNvSpPr txBox="1"/>
          <p:nvPr/>
        </p:nvSpPr>
        <p:spPr>
          <a:xfrm>
            <a:off x="548640" y="2926080"/>
            <a:ext cx="155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7 itens: condição Rasgado, disposição INDISPONÍVEL.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1"/>
          <p:cNvSpPr/>
          <p:nvPr/>
        </p:nvSpPr>
        <p:spPr>
          <a:xfrm>
            <a:off x="502920" y="3794760"/>
            <a:ext cx="1645800" cy="310800"/>
          </a:xfrm>
          <a:prstGeom prst="roundRect">
            <a:avLst>
              <a:gd fmla="val 14706" name="adj"/>
            </a:avLst>
          </a:prstGeom>
          <a:solidFill>
            <a:srgbClr val="EE4D2D"/>
          </a:solidFill>
          <a:ln cap="flat" cmpd="sng" w="12700">
            <a:solidFill>
              <a:srgbClr val="EE4D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1"/>
          <p:cNvSpPr txBox="1"/>
          <p:nvPr/>
        </p:nvSpPr>
        <p:spPr>
          <a:xfrm>
            <a:off x="502920" y="3794760"/>
            <a:ext cx="1645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1" i="0" lang="pt-BR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NOVO DESCARTE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1"/>
          <p:cNvSpPr/>
          <p:nvPr/>
        </p:nvSpPr>
        <p:spPr>
          <a:xfrm>
            <a:off x="2560320" y="960120"/>
            <a:ext cx="6263700" cy="3749100"/>
          </a:xfrm>
          <a:prstGeom prst="roundRect">
            <a:avLst>
              <a:gd fmla="val 1951" name="adj"/>
            </a:avLst>
          </a:prstGeom>
          <a:solidFill>
            <a:srgbClr val="F2F2F2"/>
          </a:solidFill>
          <a:ln cap="flat" cmpd="sng" w="1270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1"/>
          <p:cNvSpPr txBox="1"/>
          <p:nvPr/>
        </p:nvSpPr>
        <p:spPr>
          <a:xfrm>
            <a:off x="2743200" y="1051560"/>
            <a:ext cx="5852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4D2D"/>
              </a:buClr>
              <a:buSzPts val="900"/>
              <a:buFont typeface="Arial"/>
              <a:buNone/>
            </a:pPr>
            <a:r>
              <a:rPr b="1" i="0" lang="pt-BR" sz="900" u="none" cap="none" strike="noStrike">
                <a:solidFill>
                  <a:srgbClr val="EE4D2D"/>
                </a:solidFill>
                <a:latin typeface="Arial"/>
                <a:ea typeface="Arial"/>
                <a:cs typeface="Arial"/>
                <a:sym typeface="Arial"/>
              </a:rPr>
              <a:t>PREMISSAS ASSUMIDAS E PONTOS PARA DECIDIR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1"/>
          <p:cNvSpPr txBox="1"/>
          <p:nvPr/>
        </p:nvSpPr>
        <p:spPr>
          <a:xfrm>
            <a:off x="2743200" y="1371600"/>
            <a:ext cx="58521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Leitura contínua enquanto o gatilho está apertado. Alternativa: modo por clique (iniciar/parar) via configuração.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Itens identificados só pelo nome cadastrado (ex.: FB 000001), sem distinção visual por tipo.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Sem remoção individual. Decidir se haverá botão LIMPAR LISTA antes de confirmar.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Leitura individual (sem RFID): previsto entrada manual do código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Sem validação contra lista esperada, sem aprovação no descarte e app 100% online.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Telas de erro previstas: sem conexão. Outros possíveis: tag não cadastrada, usuário ou senha inválidos.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Arial"/>
              <a:buChar char="•"/>
            </a:pPr>
            <a:r>
              <a:rPr b="0" i="0" lang="pt-BR" sz="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Estados extras (lista vazia, sucesso, erro) incluídos para sua decisão do que manter.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